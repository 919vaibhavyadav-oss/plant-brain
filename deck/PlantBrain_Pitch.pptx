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91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191D"/>
                </a:solidFill>
                <a:latin typeface="Arial"/>
              </a:rPr>
              <a:t>Entity extraction F1 by class — held-out expert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8960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9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PhysicalObject</c:v>
                  </c:pt>
                  <c:pt idx="1">
                    <c:v>Activity</c:v>
                  </c:pt>
                  <c:pt idx="2">
                    <c:v>Process</c:v>
                  </c:pt>
                  <c:pt idx="3">
                    <c:v>State</c:v>
                  </c:pt>
                  <c:pt idx="4">
                    <c:v>Property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</c:v>
                </c:pt>
                <c:pt idx="1">
                  <c:v>0.95</c:v>
                </c:pt>
                <c:pt idx="2">
                  <c:v>0.9</c:v>
                </c:pt>
                <c:pt idx="3">
                  <c:v>0.86</c:v>
                </c:pt>
                <c:pt idx="4">
                  <c:v>0.83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19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8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Indian heavy industry doesn't have a data problem — it has a memory problem. We built the layer that ends it, and we validated it on real industrial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number is from the hackathon problem statement's own sources — judges recognise them. Land the last line: it compounds.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innovation claim: risk echoes. Chatbots answer; we connect. Cite the two 2025 papers verbally only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'We don't say high accuracy. We say 94.8% on held-out expert-annotated real work orders, per class, reproducible.' The evaluation focus for this problem asks for exactly this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screen for each agent, then segue to the live demo. The four agents share one ingestion layer and one knowledge graph — that's the architecture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Business Impact slide (25% of score). One prevented transformer failure pays for years of the product. Then show it live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max. The one technical claim to land: everything downstream of ingestion is source-agnostic — point it at a real plant's exports and nothing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'doesn't Cognite do this?' head-on: they validate the category and serve a different buyer. Our wedge is the mid-market Indian plant and the regulatory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is 15% of score. The message: nothing here is a rewrite — each upgrade slots behind an existing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quote, invite questions, offer the live demo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AI HACKATHON 2026  ·  PROBLEM #8  ·  INDUSTRIAL KNOWLEDGE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9659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Unified Asset &amp; Operations Brain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3977640"/>
            <a:ext cx="8899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intelligence layer over every plant document — validated on 8,076 real work orders and official Indian standards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53128" y="489204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2B3440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53128" y="4892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working prototype inside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Aero Flash  —  Vaibhav  ·  Subham Kumar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don't have a data problem. They have a memory problem.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2615184" cy="3291840"/>
          </a:xfrm>
          <a:prstGeom prst="roundRect">
            <a:avLst>
              <a:gd name="adj" fmla="val 3147"/>
            </a:avLst>
          </a:prstGeom>
          <a:solidFill>
            <a:srgbClr val="F2F4F6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" y="1828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04088" y="274320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engineers' working hours spent hunting for information that already exists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04088" y="44348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global survey, 2024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46704" y="1600200"/>
            <a:ext cx="2615184" cy="3291840"/>
          </a:xfrm>
          <a:prstGeom prst="roundRect">
            <a:avLst>
              <a:gd name="adj" fmla="val 3147"/>
            </a:avLst>
          </a:prstGeom>
          <a:solidFill>
            <a:srgbClr val="F2F4F6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1828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47872" y="274320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document systems inside a single large Indian plant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47872" y="44348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NASSCOM-EY manufacturing study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90488" y="1600200"/>
            <a:ext cx="2615184" cy="3291840"/>
          </a:xfrm>
          <a:prstGeom prst="roundRect">
            <a:avLst>
              <a:gd name="adj" fmla="val 3147"/>
            </a:avLst>
          </a:prstGeom>
          <a:solidFill>
            <a:srgbClr val="F2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828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91656" y="274320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unplanned downtime events tied to decisions made without complete equipment history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91656" y="44348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Research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34272" y="1600200"/>
            <a:ext cx="2615184" cy="3291840"/>
          </a:xfrm>
          <a:prstGeom prst="roundRect">
            <a:avLst>
              <a:gd name="adj" fmla="val 3147"/>
            </a:avLst>
          </a:prstGeom>
          <a:solidFill>
            <a:srgbClr val="F2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9235440" y="1828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235440" y="274320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India's experienced industrial engineers retire within a decade — knowledge goes with them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35440" y="44348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#8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52578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knowledge is not a filing problem. It is a safety problem, a compliance problem, and a downtime problem — and it compounds every year.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· ET AI Hackathon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insight: connect what nobody reads together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4937760" cy="1143000"/>
          </a:xfrm>
          <a:prstGeom prst="roundRect">
            <a:avLst>
              <a:gd name="adj" fmla="val 7200"/>
            </a:avLst>
          </a:prstGeom>
          <a:solidFill>
            <a:srgbClr val="F2F4F6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INCIDENT — Dec 2025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TR-501 transformer Buchholz near-miss: the oil test needed for the call was 3 months stale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4937760" cy="1143000"/>
          </a:xfrm>
          <a:prstGeom prst="roundRect">
            <a:avLst>
              <a:gd name="adj" fmla="val 7200"/>
            </a:avLst>
          </a:prstGeom>
          <a:solidFill>
            <a:srgbClr val="F2F4F6"/>
          </a:solidFill>
          <a:ln w="15875">
            <a:solidFill>
              <a:srgbClr val="E89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CONDITION — today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statutory DGA test is overdue again — 140 days past due in the inspection register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97480" y="4114800"/>
            <a:ext cx="548640" cy="502920"/>
          </a:xfrm>
          <a:prstGeom prst="downArrow">
            <a:avLst/>
          </a:prstGeom>
          <a:solidFill>
            <a:srgbClr val="44586C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470916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E8960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6460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ECHO — raised automatically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that caused the last incident is active again — with both records cited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89320" y="160020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builds chatbots over documents.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isn't answering questions — it's connecting records nobody reads together. A near-miss report from December and an inspection register row from today live in different systems, owned by different teams. Only a machine reads both.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backing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Knowledge-graph-enhanced RAG outperforms plain RAG on industrial fault reasoning — Document GraphRAG (Electronics, 2025); FDRKG-LLM (Int'l J. Production Research, 2025). PlantBrain implements exactly this architecture.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· ET AI Hackathon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real industrial data — not adjectives</a:t>
            </a:r>
            <a:endParaRPr lang="en-US" sz="31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64592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903720" y="1645920"/>
            <a:ext cx="4754880" cy="1207008"/>
          </a:xfrm>
          <a:prstGeom prst="roundRect">
            <a:avLst>
              <a:gd name="adj" fmla="val 6818"/>
            </a:avLst>
          </a:prstGeom>
          <a:solidFill>
            <a:srgbClr val="FDF3E0"/>
          </a:solidFill>
          <a:ln/>
        </p:spPr>
      </p:sp>
      <p:sp>
        <p:nvSpPr>
          <p:cNvPr id="5" name="Text 2"/>
          <p:cNvSpPr/>
          <p:nvPr/>
        </p:nvSpPr>
        <p:spPr>
          <a:xfrm>
            <a:off x="7132320" y="177393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94.8%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732520" y="17556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accuracy on 1,222 held-out tokens (macro-F1 0.909)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03720" y="3017520"/>
            <a:ext cx="4754880" cy="1207008"/>
          </a:xfrm>
          <a:prstGeom prst="roundRect">
            <a:avLst>
              <a:gd name="adj" fmla="val 6818"/>
            </a:avLst>
          </a:prstGeom>
          <a:solidFill>
            <a:srgbClr val="F2F4F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0" y="314553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8,076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73252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maintenance work orders ingested — mining, rail, heavy industry (MaintIE corpus)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03720" y="4389120"/>
            <a:ext cx="4754880" cy="1207008"/>
          </a:xfrm>
          <a:prstGeom prst="roundRect">
            <a:avLst>
              <a:gd name="adj" fmla="val 6818"/>
            </a:avLst>
          </a:prstGeom>
          <a:solidFill>
            <a:srgbClr val="F2F4F6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0" y="451713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732520" y="44988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of official regulatory documents ingested: OISD-STD-116 and the Factories Act 1948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58064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MaintIE — 1,076 expert double-annotated work orders (Bikaun et al., LREC-COLING 2024, MIT licence). Trained on 860, scored on 216. Reproducible with one command.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· ET AI Hackathon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agents on one knowledge layer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F2F4F6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1810512"/>
            <a:ext cx="475488" cy="475488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7922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Copilot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plant anything. GraphRAG-lite retrieval over 8,540 records; answers synthesized by LLM (Groq) strictly from retrieved context — with automatic offline fallback. Every claim cites an openable record.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554480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F2F4F6"/>
          </a:solidFill>
          <a:ln/>
        </p:spPr>
      </p:sp>
      <p:sp>
        <p:nvSpPr>
          <p:cNvPr id="9" name="Shape 7"/>
          <p:cNvSpPr/>
          <p:nvPr/>
        </p:nvSpPr>
        <p:spPr>
          <a:xfrm>
            <a:off x="6464808" y="1810512"/>
            <a:ext cx="475488" cy="475488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23176" y="17922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Echo Engine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83096" y="24231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 every historical incident's assets against live conditions — overdue statutory evidence, repeat-failure patterns — and raises cited warnings before the repeat.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67328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F2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4023360"/>
            <a:ext cx="475488" cy="475488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0050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Radar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7240" y="4636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join of the regulatory library (OISD · Factories Act · IBR · PESO · CEA) against inspection evidence. 8 live statutory gaps found in the demo plant.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08776" y="3767328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F2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4808" y="4023360"/>
            <a:ext cx="475488" cy="475488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20" name="Text 18"/>
          <p:cNvSpPr/>
          <p:nvPr/>
        </p:nvSpPr>
        <p:spPr>
          <a:xfrm>
            <a:off x="646480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23176" y="40050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Intelligence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83096" y="4636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Per-asset MTBF, failure-mode patterns and downtime. Repeat-failure RCA triggers fire automatically — nine identical seal failures on one pump is a process failure, not bad luck.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 by construction: no answer without a source the user can open. Graph-sourced citations are visibly badged.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· ET AI Hackathon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alert pays for the product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1984248" y="160020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984248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20440" y="1847088"/>
            <a:ext cx="1234440" cy="292608"/>
          </a:xfrm>
          <a:prstGeom prst="rightArrow">
            <a:avLst/>
          </a:prstGeom>
          <a:solidFill>
            <a:srgbClr val="D4DAE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TR-501 Buchholz alarm. Decision needed — but the oil test on file is 3 months stale. Precautionary shutdown, load restriction.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71032" y="1600200"/>
            <a:ext cx="777240" cy="777240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9" name="Text 7"/>
          <p:cNvSpPr/>
          <p:nvPr/>
        </p:nvSpPr>
        <p:spPr>
          <a:xfrm>
            <a:off x="5971032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07224" y="1847088"/>
            <a:ext cx="1234440" cy="292608"/>
          </a:xfrm>
          <a:prstGeom prst="rightArrow">
            <a:avLst/>
          </a:prstGeom>
          <a:solidFill>
            <a:srgbClr val="D4DAE0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26864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180-day DGA test is overdue again. Nobody has noticed — it lives in the electrical lab's spreadsheet.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57816" y="1600200"/>
            <a:ext cx="777240" cy="7772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9957816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76488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13648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Echo raised automatically: incident record + live compliance state, both cited. Test ordered before the next alarm.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572000"/>
            <a:ext cx="6720840" cy="1554480"/>
          </a:xfrm>
          <a:prstGeom prst="roundRect">
            <a:avLst>
              <a:gd name="adj" fmla="val 5294"/>
            </a:avLst>
          </a:prstGeom>
          <a:solidFill>
            <a:srgbClr val="FDF3E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5488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₹8–15 crore</a:t>
            </a:r>
            <a:endParaRPr lang="en-US" sz="3400" dirty="0"/>
          </a:p>
          <a:p>
            <a:pPr indent="0" marL="0">
              <a:buNone/>
            </a:pPr>
            <a:r>
              <a:rPr lang="en-US" sz="12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cost of one failed power transformer — before counting the outage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543800" y="4617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for the category: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Siemens' comparable maintenance copilot reports ~25% reactive-maintenance time savings in pilots — and it doesn't watch for incident recurrence at all.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· ET AI Hackathon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document-native by design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11480" y="19202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2F4F6"/>
          </a:solidFill>
          <a:ln/>
        </p:spPr>
      </p:sp>
      <p:sp>
        <p:nvSpPr>
          <p:cNvPr id="4" name="Text 2"/>
          <p:cNvSpPr/>
          <p:nvPr/>
        </p:nvSpPr>
        <p:spPr>
          <a:xfrm>
            <a:off x="557784" y="2103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source types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57784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CMMS · inspections · incidents · SOPs · clause library · real OISD / Factories Act PDFs · 8,076 real field MWOs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3090672"/>
            <a:ext cx="256032" cy="237744"/>
          </a:xfrm>
          <a:prstGeom prst="rightArrow">
            <a:avLst/>
          </a:prstGeom>
          <a:solidFill>
            <a:srgbClr val="44586C"/>
          </a:solidFill>
          <a:ln/>
        </p:spPr>
      </p:sp>
      <p:sp>
        <p:nvSpPr>
          <p:cNvPr id="7" name="Shape 5"/>
          <p:cNvSpPr/>
          <p:nvPr/>
        </p:nvSpPr>
        <p:spPr>
          <a:xfrm>
            <a:off x="2752344" y="19202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2F4F6"/>
          </a:solidFill>
          <a:ln/>
        </p:spPr>
      </p:sp>
      <p:sp>
        <p:nvSpPr>
          <p:cNvPr id="8" name="Text 6"/>
          <p:cNvSpPr/>
          <p:nvPr/>
        </p:nvSpPr>
        <p:spPr>
          <a:xfrm>
            <a:off x="2898648" y="2103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ingestion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98648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chunk schema for every record. Entity extraction benchmarked at 94.8% on MaintIE gold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55464" y="3090672"/>
            <a:ext cx="256032" cy="237744"/>
          </a:xfrm>
          <a:prstGeom prst="rightArrow">
            <a:avLst/>
          </a:prstGeom>
          <a:solidFill>
            <a:srgbClr val="44586C"/>
          </a:solidFill>
          <a:ln/>
        </p:spPr>
      </p:sp>
      <p:sp>
        <p:nvSpPr>
          <p:cNvPr id="11" name="Shape 9"/>
          <p:cNvSpPr/>
          <p:nvPr/>
        </p:nvSpPr>
        <p:spPr>
          <a:xfrm>
            <a:off x="5093208" y="19202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2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5239512" y="2103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layer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39512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Auto-derived knowledge graph + vector index with entity-aware, doc-type-boosted ranking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96328" y="3090672"/>
            <a:ext cx="256032" cy="237744"/>
          </a:xfrm>
          <a:prstGeom prst="rightArrow">
            <a:avLst/>
          </a:prstGeom>
          <a:solidFill>
            <a:srgbClr val="44586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34072" y="19202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DF3E0"/>
          </a:solidFill>
          <a:ln w="15875">
            <a:solidFill>
              <a:srgbClr val="E896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0376" y="2103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agents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0376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GraphRAG-lite retrieval · LLM synthesis (Groq) constrained to context · automatic offline fallback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37192" y="3090672"/>
            <a:ext cx="256032" cy="237744"/>
          </a:xfrm>
          <a:prstGeom prst="rightArrow">
            <a:avLst/>
          </a:prstGeom>
          <a:solidFill>
            <a:srgbClr val="44586C"/>
          </a:solidFill>
          <a:ln/>
        </p:spPr>
      </p:sp>
      <p:sp>
        <p:nvSpPr>
          <p:cNvPr id="19" name="Shape 17"/>
          <p:cNvSpPr/>
          <p:nvPr/>
        </p:nvSpPr>
        <p:spPr>
          <a:xfrm>
            <a:off x="9774936" y="1920240"/>
            <a:ext cx="2121408" cy="2651760"/>
          </a:xfrm>
          <a:prstGeom prst="roundRect">
            <a:avLst>
              <a:gd name="adj" fmla="val 3879"/>
            </a:avLst>
          </a:prstGeom>
          <a:solidFill>
            <a:srgbClr val="F2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2103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console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921240" y="27889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views: overview, risk echoes, copilot, graph, maintenance, compliance, benchmark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166360"/>
            <a:ext cx="3657600" cy="685800"/>
          </a:xfrm>
          <a:prstGeom prst="roundRect">
            <a:avLst>
              <a:gd name="adj" fmla="val 49333"/>
            </a:avLst>
          </a:prstGeom>
          <a:solidFill>
            <a:srgbClr val="FFFFFF"/>
          </a:solidFill>
          <a:ln w="12700">
            <a:solidFill>
              <a:srgbClr val="4458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5166360"/>
            <a:ext cx="3328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— the demo cannot die on stage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16552" y="5166360"/>
            <a:ext cx="3657600" cy="685800"/>
          </a:xfrm>
          <a:prstGeom prst="roundRect">
            <a:avLst>
              <a:gd name="adj" fmla="val 49333"/>
            </a:avLst>
          </a:prstGeom>
          <a:solidFill>
            <a:srgbClr val="FFFFFF"/>
          </a:solidFill>
          <a:ln w="12700">
            <a:solidFill>
              <a:srgbClr val="4458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5166360"/>
            <a:ext cx="3328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cites an openable record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30184" y="5166360"/>
            <a:ext cx="3657600" cy="685800"/>
          </a:xfrm>
          <a:prstGeom prst="roundRect">
            <a:avLst>
              <a:gd name="adj" fmla="val 49333"/>
            </a:avLst>
          </a:prstGeom>
          <a:solidFill>
            <a:srgbClr val="FFFFFF"/>
          </a:solidFill>
          <a:ln w="12700">
            <a:solidFill>
              <a:srgbClr val="4458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5166360"/>
            <a:ext cx="3328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Production-swappable: Neo4j · embeddings · transformer NER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· ET AI Hackathon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validated category — and an open wedge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5486400" cy="3977640"/>
          </a:xfrm>
          <a:prstGeom prst="roundRect">
            <a:avLst>
              <a:gd name="adj" fmla="val 2069"/>
            </a:avLst>
          </a:prstGeom>
          <a:solidFill>
            <a:srgbClr val="F2F4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majors prove the market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Schneider Electric is acquiring Cognite — the industrial knowledge-graph company, ~$170M ARR.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ships an Industrial Copilot for maintenance — ~25% reactive-time savings in pilots.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multi-year platform deployments priced for global majors.</a:t>
            </a:r>
            <a:endParaRPr lang="en-US" sz="1700" dirty="0"/>
          </a:p>
          <a:p>
            <a:pPr indent="0" marL="0">
              <a:buNone/>
            </a:pPr>
            <a:r>
              <a:rPr lang="en-US" sz="1350" i="1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NASSCOM-EY plants running on 7–12 disconnected systems cannot buy either.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FDF3E0"/>
          </a:solidFill>
          <a:ln w="15875">
            <a:solidFill>
              <a:srgbClr val="E89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8288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PlantBrain's wedge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Document-native: deploys on the file shares and registers a plant already has — no DataOps programme first.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Compliance-first: an Indian regulatory brain — OISD, Factories Act, IBR, PESO, CEA — that no global platform ships.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echoes: incident history × live compliance state. Neither incumbent leads with it.</a:t>
            </a:r>
            <a:endParaRPr lang="en-US" sz="170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with the Compliance Radar — auditable ROI — then expand to the full knowledge layer.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· ET AI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plant floor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2F4F6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1956816"/>
            <a:ext cx="475488" cy="475488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4168" y="19568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0664" y="2606040"/>
            <a:ext cx="21579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PM / Maximo work-order sync; OCR pipeline for scanned registers and email archives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46704" y="173736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2F4F6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956816"/>
            <a:ext cx="475488" cy="475488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87952" y="19568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NER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84448" y="2606040"/>
            <a:ext cx="21579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on the MaintIE schema we already benchmark against — the training path is proven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0488" y="173736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2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9944" y="1956816"/>
            <a:ext cx="475488" cy="475488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31736" y="19568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P&amp;ID vision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28232" y="2606040"/>
            <a:ext cx="21579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digitisation into the knowledge graph, building on published methods (Digitize-PID — TCS Research)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34272" y="173736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2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253728" y="1956816"/>
            <a:ext cx="475488" cy="475488"/>
          </a:xfrm>
          <a:prstGeom prst="ellipse">
            <a:avLst/>
          </a:prstGeom>
          <a:solidFill>
            <a:srgbClr val="E8960C"/>
          </a:solidFill>
          <a:ln/>
        </p:spPr>
      </p:sp>
      <p:sp>
        <p:nvSpPr>
          <p:cNvPr id="20" name="Text 18"/>
          <p:cNvSpPr/>
          <p:nvPr/>
        </p:nvSpPr>
        <p:spPr>
          <a:xfrm>
            <a:off x="9253728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0" y="19568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stack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272016" y="2606040"/>
            <a:ext cx="21579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+ vector DB behind the same interfaces; role-based web and mobile for field technicians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52578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of the prototype was chosen to be swappable — the interfaces stay, the engines upgrade.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· ET AI Hackathon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82880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plant already paid for this knowledge — in downtime, in audits, sometimes in lives."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88720" y="342900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9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makes it impossible to lose.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Aero Flash  —  Vaibhav  ·  Subham Kumar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PlantBrain  ·  live demo available  ·  built for ET AI Hackathon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2026-07-18T06:03:31Z</dcterms:created>
  <dcterms:modified xsi:type="dcterms:W3CDTF">2026-07-18T06:03:31Z</dcterms:modified>
</cp:coreProperties>
</file>